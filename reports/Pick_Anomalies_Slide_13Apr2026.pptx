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68680"/>
            <a:ext cx="1645920" cy="41148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A1A2E"/>
                </a:solidFill>
                <a:latin typeface="Segoe UI"/>
              </a:defRPr>
            </a:pPr>
            <a:r>
              <a:t>Pick Anomalies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B6B7B"/>
                </a:solidFill>
                <a:latin typeface="Segoe UI"/>
              </a:defRPr>
            </a:pPr>
            <a:r>
              <a:t>Real-time pick location detection — identifying and correcting warehouse stock discrepancies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90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09EDB"/>
                </a:solidFill>
                <a:latin typeface="Segoe UI"/>
              </a:defRPr>
            </a:pPr>
            <a:r>
              <a:t>PICK ACCURACY EVOLUTION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64792"/>
            <a:ext cx="2926080" cy="214884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" y="1773936"/>
            <a:ext cx="2907792" cy="5029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928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Segoe UI"/>
              </a:defRPr>
            </a:pPr>
            <a:r>
              <a:t>Before Stocktake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7B"/>
                </a:solidFill>
                <a:latin typeface="Segoe UI"/>
              </a:defRPr>
            </a:pPr>
            <a:r>
              <a:t>Pre-February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DC3545"/>
                </a:solidFill>
                <a:latin typeface="Segoe UI"/>
              </a:defRPr>
            </a:pPr>
            <a:r>
              <a:t>~78%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80360"/>
            <a:ext cx="2560320" cy="82296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880360"/>
            <a:ext cx="1997049" cy="82296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137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DC3545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063240"/>
            <a:ext cx="2395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40"/>
                </a:solidFill>
                <a:latin typeface="Segoe UI"/>
              </a:defRPr>
            </a:pPr>
            <a:r>
              <a:t>No visibility into pick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137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DC3545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246120"/>
            <a:ext cx="2395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40"/>
                </a:solidFill>
                <a:latin typeface="Segoe UI"/>
              </a:defRPr>
            </a:pPr>
            <a:r>
              <a:t>Discrepancies found only at stocktake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29000"/>
            <a:ext cx="137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DC3545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429000"/>
            <a:ext cx="2395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40"/>
                </a:solidFill>
                <a:latin typeface="Segoe UI"/>
              </a:defRPr>
            </a:pPr>
            <a:r>
              <a:t>Stock variance unknown daily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1764792"/>
            <a:ext cx="2926080" cy="214884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32504" y="1773936"/>
            <a:ext cx="2907792" cy="50292"/>
          </a:xfrm>
          <a:prstGeom prst="rect">
            <a:avLst/>
          </a:prstGeom>
          <a:solidFill>
            <a:srgbClr val="F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18928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Segoe UI"/>
              </a:defRPr>
            </a:pPr>
            <a:r>
              <a:t>After Stocktake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13055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7B"/>
                </a:solidFill>
                <a:latin typeface="Segoe UI"/>
              </a:defRPr>
            </a:pPr>
            <a:r>
              <a:t>February – March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331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F09A00"/>
                </a:solidFill>
                <a:latin typeface="Segoe UI"/>
              </a:defRPr>
            </a:pPr>
            <a:r>
              <a:t>~88%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2880360"/>
            <a:ext cx="2560320" cy="82296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06240" y="2880360"/>
            <a:ext cx="2253081" cy="82296"/>
          </a:xfrm>
          <a:prstGeom prst="roundRect">
            <a:avLst/>
          </a:prstGeom>
          <a:solidFill>
            <a:srgbClr val="F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063240"/>
            <a:ext cx="137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F09A00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3063240"/>
            <a:ext cx="2395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40"/>
                </a:solidFill>
                <a:latin typeface="Segoe UI"/>
              </a:defRPr>
            </a:pPr>
            <a:r>
              <a:t>Bin locations corrected via full 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246120"/>
            <a:ext cx="137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F09A00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3246120"/>
            <a:ext cx="2395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40"/>
                </a:solidFill>
                <a:latin typeface="Segoe UI"/>
              </a:defRPr>
            </a:pPr>
            <a:r>
              <a:t>Improved but errors still invisible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429000"/>
            <a:ext cx="137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F09A00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2" y="3429000"/>
            <a:ext cx="2395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40"/>
                </a:solidFill>
                <a:latin typeface="Segoe UI"/>
              </a:defRPr>
            </a:pPr>
            <a:r>
              <a:t>No way to detect daily pick issues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1764792"/>
            <a:ext cx="2926080" cy="214884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24344" y="1773936"/>
            <a:ext cx="2907792" cy="50292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0" y="18928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Segoe UI"/>
              </a:defRPr>
            </a:pPr>
            <a:r>
              <a:t>Scanners + Pick Anomalies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213055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7B"/>
                </a:solidFill>
                <a:latin typeface="Segoe UI"/>
              </a:defRPr>
            </a:pPr>
            <a:r>
              <a:t>March 26 – Present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2331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0F9D58"/>
                </a:solidFill>
                <a:latin typeface="Segoe UI"/>
              </a:defRPr>
            </a:pPr>
            <a:r>
              <a:t>95.4%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0" y="2880360"/>
            <a:ext cx="2560320" cy="82296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98080" y="2880360"/>
            <a:ext cx="2442545" cy="82296"/>
          </a:xfrm>
          <a:prstGeom prst="round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0" y="3063240"/>
            <a:ext cx="137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9D58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2672" y="3063240"/>
            <a:ext cx="2395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40"/>
                </a:solidFill>
                <a:latin typeface="Segoe UI"/>
              </a:defRPr>
            </a:pPr>
            <a:r>
              <a:t>Anomalies detected within hours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3246120"/>
            <a:ext cx="137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9D58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62672" y="3246120"/>
            <a:ext cx="2395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40"/>
                </a:solidFill>
                <a:latin typeface="Segoe UI"/>
              </a:defRPr>
            </a:pPr>
            <a:r>
              <a:t>1,076 orders analyzed automatically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0" y="3429000"/>
            <a:ext cx="137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9D58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62672" y="3429000"/>
            <a:ext cx="2395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40"/>
                </a:solidFill>
                <a:latin typeface="Segoe UI"/>
              </a:defRPr>
            </a:pPr>
            <a:r>
              <a:t>105 anomalies found, 62 corrected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3685032" y="2697480"/>
            <a:ext cx="310896" cy="201168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ight Arrow 45"/>
          <p:cNvSpPr/>
          <p:nvPr/>
        </p:nvSpPr>
        <p:spPr>
          <a:xfrm>
            <a:off x="6976872" y="2697480"/>
            <a:ext cx="310896" cy="201168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469880" y="2148840"/>
            <a:ext cx="1508760" cy="13716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69880" y="2258568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2E7D32"/>
                </a:solidFill>
                <a:latin typeface="Segoe UI"/>
              </a:defRPr>
            </a:pPr>
            <a:r>
              <a:t>+17.4%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69880" y="27889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2E7D32"/>
                </a:solidFill>
                <a:latin typeface="Segoe UI"/>
              </a:defRPr>
            </a:pPr>
            <a:r>
              <a:t>Overall</a:t>
            </a:r>
            <a:br/>
            <a:r>
              <a:t>Improvement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69880" y="31546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B6B7B"/>
                </a:solidFill>
                <a:latin typeface="Segoe UI"/>
              </a:defRPr>
            </a:pPr>
            <a:r>
              <a:t>78% → 95.4%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4014216"/>
            <a:ext cx="1069848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4114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09EDB"/>
                </a:solidFill>
                <a:latin typeface="Segoe UI"/>
              </a:defRPr>
            </a:pPr>
            <a:r>
              <a:t>WHAT THE SYSTEM DOES</a:t>
            </a:r>
          </a:p>
        </p:txBody>
      </p:sp>
      <p:sp>
        <p:nvSpPr>
          <p:cNvPr id="53" name="Oval 52"/>
          <p:cNvSpPr/>
          <p:nvPr/>
        </p:nvSpPr>
        <p:spPr>
          <a:xfrm>
            <a:off x="777240" y="4434840"/>
            <a:ext cx="201168" cy="201168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442569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" y="44165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Segoe UI"/>
              </a:defRPr>
            </a:pPr>
            <a:r>
              <a:t>Real-Time Anomaly Detection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" y="4617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7B"/>
                </a:solidFill>
                <a:latin typeface="Segoe UI"/>
              </a:defRPr>
            </a:pPr>
            <a:r>
              <a:t>Every shipped order is analyzed automatically. When a picker takes stock from the wrong bin, the system flags it within hours — not weeks.</a:t>
            </a:r>
          </a:p>
        </p:txBody>
      </p:sp>
      <p:sp>
        <p:nvSpPr>
          <p:cNvPr id="57" name="Oval 56"/>
          <p:cNvSpPr/>
          <p:nvPr/>
        </p:nvSpPr>
        <p:spPr>
          <a:xfrm>
            <a:off x="777240" y="5001768"/>
            <a:ext cx="201168" cy="201168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4992624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8992" y="49834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Segoe UI"/>
              </a:defRPr>
            </a:pPr>
            <a:r>
              <a:t>Automatic Stock Corrections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2" y="51846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7B"/>
                </a:solidFill>
                <a:latin typeface="Segoe UI"/>
              </a:defRPr>
            </a:pPr>
            <a:r>
              <a:t>Once reviewed, the system creates Stock Transfers in Cin7 to move units back to the correct location. 62 corrections executed so far.</a:t>
            </a:r>
          </a:p>
        </p:txBody>
      </p:sp>
      <p:sp>
        <p:nvSpPr>
          <p:cNvPr id="61" name="Oval 60"/>
          <p:cNvSpPr/>
          <p:nvPr/>
        </p:nvSpPr>
        <p:spPr>
          <a:xfrm>
            <a:off x="777240" y="5568696"/>
            <a:ext cx="201168" cy="201168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555955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" y="55504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Segoe UI"/>
              </a:defRPr>
            </a:pPr>
            <a:r>
              <a:t>Bin Location Maintenance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8992" y="57515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7B"/>
                </a:solidFill>
                <a:latin typeface="Segoe UI"/>
              </a:defRPr>
            </a:pPr>
            <a:r>
              <a:t>The system continuously identifies products stored in wrong locations, helping the team relocate items and keep bin assignments accurate across the warehouse.</a:t>
            </a:r>
          </a:p>
        </p:txBody>
      </p:sp>
      <p:sp>
        <p:nvSpPr>
          <p:cNvPr id="65" name="Oval 64"/>
          <p:cNvSpPr/>
          <p:nvPr/>
        </p:nvSpPr>
        <p:spPr>
          <a:xfrm>
            <a:off x="777240" y="6135624"/>
            <a:ext cx="201168" cy="201168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" y="6126480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" y="611733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Segoe UI"/>
              </a:defRPr>
            </a:pPr>
            <a:r>
              <a:t>Stock Variance Prevention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8992" y="63185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7B"/>
                </a:solidFill>
                <a:latin typeface="Segoe UI"/>
              </a:defRPr>
            </a:pPr>
            <a:r>
              <a:t>By catching discrepancies early — before they compound — we prevent significant stock variances that previously were only discovered during full stocktakes.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4114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09EDB"/>
                </a:solidFill>
                <a:latin typeface="Segoe UI"/>
              </a:defRPr>
            </a:pPr>
            <a:r>
              <a:t>LIVE DATA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583680" y="4389120"/>
            <a:ext cx="2468880" cy="12344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20840" y="44531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009EDB"/>
                </a:solidFill>
                <a:latin typeface="Segoe UI"/>
              </a:defRPr>
            </a:pPr>
            <a:r>
              <a:t>1,076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43800" y="44531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40"/>
                </a:solidFill>
                <a:latin typeface="Segoe UI"/>
              </a:defRPr>
            </a:pPr>
            <a:r>
              <a:t>Orders Analyzed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20840" y="466344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009EDB"/>
                </a:solidFill>
                <a:latin typeface="Segoe UI"/>
              </a:defRPr>
            </a:pPr>
            <a:r>
              <a:t>2,286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43800" y="46634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40"/>
                </a:solidFill>
                <a:latin typeface="Segoe UI"/>
              </a:defRPr>
            </a:pPr>
            <a:r>
              <a:t>Total Picks Tracked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20840" y="48737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009EDB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43800" y="48737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40"/>
                </a:solidFill>
                <a:latin typeface="Segoe UI"/>
              </a:defRPr>
            </a:pPr>
            <a:r>
              <a:t>Anomalies Detected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20840" y="508406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009EDB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43800" y="508406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40"/>
                </a:solidFill>
                <a:latin typeface="Segoe UI"/>
              </a:defRPr>
            </a:pPr>
            <a:r>
              <a:t>Corrections Executed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20840" y="52943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0F9D58"/>
                </a:solidFill>
                <a:latin typeface="Segoe UI"/>
              </a:defRPr>
            </a:pPr>
            <a:r>
              <a:t>95.4%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43800" y="52943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40"/>
                </a:solidFill>
                <a:latin typeface="Segoe UI"/>
              </a:defRPr>
            </a:pPr>
            <a:r>
              <a:t>Current Pick Accuracy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0" y="57424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09EDB"/>
                </a:solidFill>
                <a:latin typeface="Segoe UI"/>
              </a:defRPr>
            </a:pPr>
            <a:r>
              <a:t>TARGET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83680" y="5961888"/>
            <a:ext cx="2468880" cy="621792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75120" y="601675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2E7D32"/>
                </a:solidFill>
                <a:latin typeface="Segoe UI"/>
              </a:defRPr>
            </a:pPr>
            <a:r>
              <a:t>97–98%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09560" y="60350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2E7D32"/>
                </a:solidFill>
                <a:latin typeface="Segoe UI"/>
              </a:defRPr>
            </a:pPr>
            <a:r>
              <a:t>Pick Accuracy</a:t>
            </a:r>
            <a:br/>
            <a:r>
              <a:t>Goal by Q3 2026</a:t>
            </a:r>
            <a:br/>
            <a:r>
              <a:t>with process improvements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26880" y="4114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09EDB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86" name="Oval 85"/>
          <p:cNvSpPr/>
          <p:nvPr/>
        </p:nvSpPr>
        <p:spPr>
          <a:xfrm>
            <a:off x="9326880" y="4443984"/>
            <a:ext cx="182880" cy="1828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326880" y="443484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82912" y="4434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333340"/>
                </a:solidFill>
                <a:latin typeface="Segoe UI"/>
              </a:defRPr>
            </a:pPr>
            <a:r>
              <a:t>Real-time stock updates via Cin7 Webhooks</a:t>
            </a:r>
          </a:p>
        </p:txBody>
      </p:sp>
      <p:sp>
        <p:nvSpPr>
          <p:cNvPr id="89" name="Oval 88"/>
          <p:cNvSpPr/>
          <p:nvPr/>
        </p:nvSpPr>
        <p:spPr>
          <a:xfrm>
            <a:off x="9326880" y="4764024"/>
            <a:ext cx="182880" cy="1828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326880" y="475488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582912" y="4754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333340"/>
                </a:solidFill>
                <a:latin typeface="Segoe UI"/>
              </a:defRPr>
            </a:pPr>
            <a:r>
              <a:t>Repeat-offender SKU relocation program</a:t>
            </a:r>
          </a:p>
        </p:txBody>
      </p:sp>
      <p:sp>
        <p:nvSpPr>
          <p:cNvPr id="92" name="Oval 91"/>
          <p:cNvSpPr/>
          <p:nvPr/>
        </p:nvSpPr>
        <p:spPr>
          <a:xfrm>
            <a:off x="9326880" y="5084064"/>
            <a:ext cx="182880" cy="1828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326880" y="507492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82912" y="5074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333340"/>
                </a:solidFill>
                <a:latin typeface="Segoe UI"/>
              </a:defRPr>
            </a:pPr>
            <a:r>
              <a:t>Warehouse team process training</a:t>
            </a:r>
          </a:p>
        </p:txBody>
      </p:sp>
      <p:sp>
        <p:nvSpPr>
          <p:cNvPr id="95" name="Oval 94"/>
          <p:cNvSpPr/>
          <p:nvPr/>
        </p:nvSpPr>
        <p:spPr>
          <a:xfrm>
            <a:off x="9326880" y="5404104"/>
            <a:ext cx="182880" cy="1828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326880" y="539496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582912" y="5394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333340"/>
                </a:solidFill>
                <a:latin typeface="Segoe UI"/>
              </a:defRPr>
            </a:pPr>
            <a:r>
              <a:t>Bin audit scheduling based on anomaly data</a:t>
            </a:r>
          </a:p>
        </p:txBody>
      </p:sp>
      <p:sp>
        <p:nvSpPr>
          <p:cNvPr id="98" name="Oval 97"/>
          <p:cNvSpPr/>
          <p:nvPr/>
        </p:nvSpPr>
        <p:spPr>
          <a:xfrm>
            <a:off x="9326880" y="5724144"/>
            <a:ext cx="182880" cy="1828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0" y="571500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82912" y="5715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333340"/>
                </a:solidFill>
                <a:latin typeface="Segoe UI"/>
              </a:defRPr>
            </a:pPr>
            <a:r>
              <a:t>Reduce stock variance before it impacts orders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