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apid-expre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548640"/>
            <a:ext cx="274320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Warehouse Cost Report</a:t>
            </a:r>
          </a:p>
          <a:p>
            <a:pPr algn="ctr">
              <a:spcBef>
                <a:spcPts val="1200"/>
              </a:spcBef>
              <a:defRPr sz="1800">
                <a:solidFill>
                  <a:srgbClr val="D4A01E"/>
                </a:solidFill>
              </a:defRPr>
            </a:pPr>
            <a:r>
              <a:t>Cost In &amp; Cost Out Evolution  |  Q1 2026 (Jan – Mar)</a:t>
            </a:r>
          </a:p>
          <a:p>
            <a:pPr algn="ctr">
              <a:spcBef>
                <a:spcPts val="2400"/>
              </a:spcBef>
              <a:defRPr sz="1200">
                <a:solidFill>
                  <a:srgbClr val="999999"/>
                </a:solidFill>
              </a:defRPr>
            </a:pPr>
            <a:r>
              <a:t>Generated: 13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Q1 2026 – Key Metrics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59080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2590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59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B1D3A"/>
                </a:solidFill>
              </a:defRPr>
            </a:pPr>
            <a:r>
              <a:t>$15.8M</a:t>
            </a:r>
          </a:p>
          <a:p>
            <a:pPr algn="ctr"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Total Cost In (Q1)</a:t>
            </a:r>
          </a:p>
          <a:p>
            <a:pPr algn="ctr">
              <a:defRPr sz="1000">
                <a:solidFill>
                  <a:srgbClr val="228B22"/>
                </a:solidFill>
              </a:defRPr>
            </a:pPr>
            <a:r>
              <a:t>Jan→Mar: +43.1%</a:t>
            </a:r>
          </a:p>
        </p:txBody>
      </p:sp>
      <p:sp>
        <p:nvSpPr>
          <p:cNvPr id="7" name="Rectangle 6"/>
          <p:cNvSpPr/>
          <p:nvPr/>
        </p:nvSpPr>
        <p:spPr>
          <a:xfrm>
            <a:off x="3322320" y="1097280"/>
            <a:ext cx="259080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22320" y="1097280"/>
            <a:ext cx="2590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2320" y="1280160"/>
            <a:ext cx="259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B1D3A"/>
                </a:solidFill>
              </a:defRPr>
            </a:pPr>
            <a:r>
              <a:t>$16.5M</a:t>
            </a:r>
          </a:p>
          <a:p>
            <a:pPr algn="ctr"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Total Cost Out (Q1)</a:t>
            </a:r>
          </a:p>
          <a:p>
            <a:pPr algn="ctr">
              <a:defRPr sz="1000">
                <a:solidFill>
                  <a:srgbClr val="228B22"/>
                </a:solidFill>
              </a:defRPr>
            </a:pPr>
            <a:r>
              <a:t>Jan→Mar: +7.5%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0" y="1097280"/>
            <a:ext cx="259080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0" y="1097280"/>
            <a:ext cx="2590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0" y="1280160"/>
            <a:ext cx="259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B1D3A"/>
                </a:solidFill>
              </a:defRPr>
            </a:pPr>
            <a:r>
              <a:t>-667,388</a:t>
            </a:r>
          </a:p>
          <a:p>
            <a:pPr algn="ctr"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Net Inventory Change ($)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259080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2590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259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B1D3A"/>
                </a:solidFill>
              </a:defRPr>
            </a:pPr>
            <a:r>
              <a:t>1,420,573</a:t>
            </a:r>
          </a:p>
          <a:p>
            <a:pPr algn="ctr"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Total Units 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22320" y="3200400"/>
            <a:ext cx="259080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22320" y="3200400"/>
            <a:ext cx="2590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2320" y="3383280"/>
            <a:ext cx="259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B1D3A"/>
                </a:solidFill>
              </a:defRPr>
            </a:pPr>
            <a:r>
              <a:t>1,438,931</a:t>
            </a:r>
          </a:p>
          <a:p>
            <a:pPr algn="ctr"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Total Units 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0" y="3200400"/>
            <a:ext cx="2590800" cy="1828800"/>
          </a:xfrm>
          <a:prstGeom prst="rect">
            <a:avLst/>
          </a:prstGeom>
          <a:solidFill>
            <a:srgbClr val="F7F9FC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200400"/>
            <a:ext cx="2590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0" y="3383280"/>
            <a:ext cx="259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B1D3A"/>
                </a:solidFill>
              </a:defRPr>
            </a:pPr>
            <a:r>
              <a:t>8</a:t>
            </a:r>
          </a:p>
          <a:p>
            <a:pPr algn="ctr">
              <a:spcBef>
                <a:spcPts val="600"/>
              </a:spcBef>
              <a:defRPr sz="1100">
                <a:solidFill>
                  <a:srgbClr val="666666"/>
                </a:solidFill>
              </a:defRPr>
            </a:pPr>
            <a:r>
              <a:t>Active Warehouses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Overview</a:t>
            </a:r>
          </a:p>
          <a:p>
            <a:pPr>
              <a:spcBef>
                <a:spcPts val="1600"/>
              </a:spcBef>
              <a:defRPr sz="1600">
                <a:solidFill>
                  <a:srgbClr val="AAAAAA"/>
                </a:solidFill>
              </a:defRPr>
            </a:pPr>
            <a:r>
              <a:t>Total Cost In vs Cost Out  |  All Warehouses Combined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Total Cost In vs Cost Out – Q1 2026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94360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Cost In = Purchases + Returns + Transfers In  |  Cost Out = Sales + Transfers 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Cost In</a:t>
            </a:r>
          </a:p>
          <a:p>
            <a:pPr>
              <a:spcBef>
                <a:spcPts val="1600"/>
              </a:spcBef>
              <a:defRPr sz="1600">
                <a:solidFill>
                  <a:srgbClr val="AAAAAA"/>
                </a:solidFill>
              </a:defRPr>
            </a:pPr>
            <a:r>
              <a:t>Stock received into warehouses  |  Purchases, Transfers In, Returns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Cost In – Evolution by Warehouse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94360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Source: Cin7 Inventory Movement Details Report | Top 8 warehouses by total cost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Cost In – Monthly Comparison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Cost Out</a:t>
            </a:r>
          </a:p>
          <a:p>
            <a:pPr>
              <a:spcBef>
                <a:spcPts val="1600"/>
              </a:spcBef>
              <a:defRPr sz="1600">
                <a:solidFill>
                  <a:srgbClr val="AAAAAA"/>
                </a:solidFill>
              </a:defRPr>
            </a:pPr>
            <a:r>
              <a:t>Stock dispatched from warehouses  |  Sales, Transfers 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Cost Out – Evolution by Warehouse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94360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Source: Cin7 Inventory Movement Details Report | Top 8 warehouses by total cost 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Cost Out – Monthly Comparison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Net Flow</a:t>
            </a:r>
          </a:p>
          <a:p>
            <a:pPr>
              <a:spcBef>
                <a:spcPts val="1600"/>
              </a:spcBef>
              <a:defRPr sz="1600">
                <a:solidFill>
                  <a:srgbClr val="AAAAAA"/>
                </a:solidFill>
              </a:defRPr>
            </a:pPr>
            <a:r>
              <a:t>Cost In minus Cost Out  |  Positive = net stock accumulation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Net Cost Flow per Warehouse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94360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Positive values indicate net stock increase in value. Main Warehouse negative net = primary distribution hub.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Warehouse Share – Cost In vs Cost Out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297680" cy="48463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14400"/>
            <a:ext cx="42976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94360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Proportional share of each warehouse in total Q1 cost 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Cost Breakdown by Transaction Type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94360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Reference types: Purchase, PurchaseAdvanced (multi-line POs), Sale, SaleMultiple, StockTransfer, StockTake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Cost In – Detailed by Warehouse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371600"/>
                <a:gridCol w="1371600"/>
                <a:gridCol w="13716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Warehouse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Jan 2026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Mar 2026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Q1 Total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Jan→Mar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Main Warehouse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$3,461,749.38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$5,272,292.07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$5,227,790.63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$13,961,832.08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+51.0%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Sunshine Coast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$152,097.25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$149,484.87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$125,446.56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$427,028.67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-17.5%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Cairns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$150,251.56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$80,431.82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$154,276.86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$384,960.24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+2.7%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Brisbane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$132,974.87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$137,535.14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$92,252.76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$362,762.76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-30.6%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Sydney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$82,191.61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$110,839.06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$81,452.76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$274,483.44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-0.9%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Coffs Harbour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$72,030.28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$94,643.91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$94,113.66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$260,787.84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+30.7%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Hobart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$24,419.43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$17,838.10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$51,331.67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$93,589.20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+110.2%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Melbourne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$8,892.77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$18,901.22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$18,899.40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$46,693.39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+112.5%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Cost Out – Detailed by Warehouse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371600"/>
                <a:gridCol w="1371600"/>
                <a:gridCol w="13716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Warehouse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Jan 2026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Mar 2026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Q1 Total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Jan→Mar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Main Warehouse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$4,534,133.90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$4,987,136.20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$4,940,314.22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$14,461,584.31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+9.0%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Sunshine Coast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$183,256.21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$140,841.42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$137,388.59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$461,486.23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Cairns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$146,112.45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$120,088.33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$149,882.44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$416,083.22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+2.6%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Brisbane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$138,262.29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$118,278.83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$129,091.46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$385,632.58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Sydney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$92,646.61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$110,473.17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$88,258.77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$291,378.55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-4.7%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Coffs Harbour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$90,305.20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$90,768.34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$112,272.63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$293,346.17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+24.3%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Hobart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$25,661.45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$29,576.69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$38,030.76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$93,268.90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+48.2%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Melbourne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$25,804.68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$18,252.58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$32,688.79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$76,746.05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+26.7%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Cost by Warehouse &amp; Transaction Type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5953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1645920"/>
                <a:gridCol w="1645920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Warehouse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Cost In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Cost Out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Net</a:t>
                      </a:r>
                    </a:p>
                  </a:txBody>
                  <a:tcPr>
                    <a:solidFill>
                      <a:srgbClr val="0B1D3A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Main Warehouse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Purchase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$1,771,195.23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$1,771,195.23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Main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PurchaseAdvanced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$3,173,055.16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$3,173,055.16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Main Warehouse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Sale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$22,834.65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$2,541,273.46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$-2,518,438.81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Main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SaleMultiple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$4,050.73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$433,275.25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$-429,224.52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Main Warehouse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StockTransfer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$8,990,696.30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$11,487,035.60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$-2,496,339.30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Sunshine Coast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$46,560.23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$46,560.23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Sunshine Coast Warehouse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PurchaseAdvanced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$79,872.36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$79,872.36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Sunshine Coast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$19,458.94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$363,892.21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$-344,433.27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Sunshine Coast Warehouse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SaleMultiple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$3,272.83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$56,333.96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$-53,061.12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Sunshine Coast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StockTransfer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$277,864.31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$41,260.06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$236,604.25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Cairns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Purchase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$53,307.12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$53,307.12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Cairns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PurchaseAdvanced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$193,458.37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$193,458.37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Cairns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Sale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$9,160.47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$361,563.84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$-352,403.37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Cairns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SaleMultiple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$619.47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$47,293.50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$-46,674.02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900"/>
                      </a:pPr>
                      <a:r>
                        <a:t>Cairns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StockTransfer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$128,414.80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$7,225.89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/>
                      </a:pPr>
                      <a:r>
                        <a:t>$121,188.91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