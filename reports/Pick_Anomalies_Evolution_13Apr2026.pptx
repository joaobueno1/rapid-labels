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RAPIDLED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Warehouse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731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Pick Accuracy Evolution — From Blind Spots to Real-Time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3891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0AEC0"/>
                </a:solidFill>
                <a:latin typeface="Segoe UI"/>
              </a:defRPr>
            </a:pPr>
            <a:r>
              <a:t>Pick Anomalies System  •  Live Data as of April 13, 2026  •  Main Warehouse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13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418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THE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2471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Three phases of improvement — from no visibility to near real-time anomaly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99032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99032"/>
            <a:ext cx="2331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50876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Before Stocktake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700784"/>
            <a:ext cx="2112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0AEC0"/>
                </a:solidFill>
                <a:latin typeface="Segoe UI"/>
              </a:defRPr>
            </a:pPr>
            <a:r>
              <a:t>Pre-Feb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901952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267712"/>
            <a:ext cx="2112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Pick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478024"/>
            <a:ext cx="2112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No visibility into pick</a:t>
            </a:r>
            <a:br/>
            <a:r>
              <a:t>errors. Stock discrepancies</a:t>
            </a:r>
            <a:br/>
            <a:r>
              <a:t>only found during</a:t>
            </a:r>
            <a:br/>
            <a:r>
              <a:t>stocktake counts.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15768" y="2176272"/>
            <a:ext cx="32004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63240" y="1399032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1399032"/>
            <a:ext cx="2331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72968" y="150876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After Stocktake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1700784"/>
            <a:ext cx="2112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0AEC0"/>
                </a:solidFill>
                <a:latin typeface="Segoe UI"/>
              </a:defRPr>
            </a:pPr>
            <a:r>
              <a:t>Feb – Mar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1901952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2267712"/>
            <a:ext cx="2112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Pick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2478024"/>
            <a:ext cx="2112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Stocktake corrected</a:t>
            </a:r>
            <a:br/>
            <a:r>
              <a:t>bin locations. Accuracy</a:t>
            </a:r>
            <a:br/>
            <a:r>
              <a:t>improved but errors</a:t>
            </a:r>
            <a:br/>
            <a:r>
              <a:t>still undetected daily.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413248" y="2176272"/>
            <a:ext cx="320040" cy="22860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60720" y="1399032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1399032"/>
            <a:ext cx="23317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150876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Segoe UI"/>
              </a:defRPr>
            </a:pPr>
            <a:r>
              <a:t>After Scanners +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1700784"/>
            <a:ext cx="2112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0AEC0"/>
                </a:solidFill>
                <a:latin typeface="Segoe UI"/>
              </a:defRPr>
            </a:pPr>
            <a:r>
              <a:t>Mar 26 – Present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1901952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95.4%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2267712"/>
            <a:ext cx="2112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Pick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2478024"/>
            <a:ext cx="2112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Real-time pick detection</a:t>
            </a:r>
            <a:br/>
            <a:r>
              <a:t>via scanner data. Anomalies</a:t>
            </a:r>
            <a:br/>
            <a:r>
              <a:t>identified within hours,</a:t>
            </a:r>
            <a:br/>
            <a:r>
              <a:t>not weeks.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57032" y="1901952"/>
            <a:ext cx="1051560" cy="777240"/>
          </a:xfrm>
          <a:prstGeom prst="roundRect">
            <a:avLst>
              <a:gd name="adj" fmla="val 6000"/>
            </a:avLst>
          </a:prstGeom>
          <a:solidFill>
            <a:srgbClr val="0D3B1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19476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+17.4%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22402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2C55E"/>
                </a:solidFill>
                <a:latin typeface="Segoe UI"/>
              </a:defRPr>
            </a:pPr>
            <a:r>
              <a:t>Overall</a:t>
            </a:r>
            <a:br/>
            <a:r>
              <a:t>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46704"/>
            <a:ext cx="11430000" cy="13716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41071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LIVE SYSTEM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4107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0AEC0"/>
                </a:solidFill>
                <a:latin typeface="Segoe UI"/>
              </a:defRPr>
            </a:pPr>
            <a:r>
              <a:t>Pick Anomalies System — automated detection since scanner rollout (Mar 26, 2026)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1,076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Orders</a:t>
            </a:r>
            <a:br/>
            <a:r>
              <a:t>Analyzed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0195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2,286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195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Total Picks</a:t>
            </a:r>
            <a:br/>
            <a:r>
              <a:t>Tracked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184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6499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95.4%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499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Current Pick</a:t>
            </a:r>
            <a:br/>
            <a:r>
              <a:t>Accuracy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2803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2803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Anomalies</a:t>
            </a:r>
            <a:br/>
            <a:r>
              <a:t>Detected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107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Stock Corrections</a:t>
            </a:r>
            <a:br/>
            <a:r>
              <a:t>Executed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5411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AEC0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411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Orders</a:t>
            </a:r>
            <a:br/>
            <a:r>
              <a:t>Reviewed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1715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970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Clean Orders</a:t>
            </a:r>
            <a:br/>
            <a:r>
              <a:t>(0 Issues)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07040" y="3666744"/>
            <a:ext cx="1353312" cy="566928"/>
          </a:xfrm>
          <a:prstGeom prst="roundRect">
            <a:avLst>
              <a:gd name="adj" fmla="val 6000"/>
            </a:avLst>
          </a:prstGeom>
          <a:solidFill>
            <a:srgbClr val="1A243B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80192" y="372160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~59%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80192" y="39776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A0AEC0"/>
                </a:solidFill>
                <a:latin typeface="Segoe UI"/>
              </a:defRPr>
            </a:pPr>
            <a:r>
              <a:t>Anomalies</a:t>
            </a:r>
            <a:br/>
            <a:r>
              <a:t>Corrected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443984"/>
            <a:ext cx="11430000" cy="13716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45079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WEEKLY PICK ACCURACY TREND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830318"/>
            <a:ext cx="512064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0" y="472059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F59E0B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" y="4827667"/>
            <a:ext cx="548640" cy="1262237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63075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95.2%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610819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AEC0"/>
                </a:solidFill>
                <a:latin typeface="Segoe UI"/>
              </a:defRPr>
            </a:pPr>
            <a:r>
              <a:t>Mar 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6272784"/>
            <a:ext cx="7680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07088"/>
                </a:solidFill>
                <a:latin typeface="Segoe UI"/>
              </a:defRPr>
            </a:pPr>
            <a:r>
              <a:t>147 orders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057400" y="4802475"/>
            <a:ext cx="548640" cy="1287429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65960" y="4637883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97.1%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47672" y="610819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AEC0"/>
                </a:solidFill>
                <a:latin typeface="Segoe UI"/>
              </a:defRPr>
            </a:pPr>
            <a:r>
              <a:t>Mar 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47672" y="6272784"/>
            <a:ext cx="7680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07088"/>
                </a:solidFill>
                <a:latin typeface="Segoe UI"/>
              </a:defRPr>
            </a:pPr>
            <a:r>
              <a:t>386 orders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91840" y="4847555"/>
            <a:ext cx="548640" cy="1242349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0" y="4682963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93.7%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2112" y="610819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AEC0"/>
                </a:solidFill>
                <a:latin typeface="Segoe UI"/>
              </a:defRPr>
            </a:pPr>
            <a:r>
              <a:t>Apr 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82112" y="6272784"/>
            <a:ext cx="7680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07088"/>
                </a:solidFill>
                <a:latin typeface="Segoe UI"/>
              </a:defRPr>
            </a:pPr>
            <a:r>
              <a:t>402 orders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26280" y="4806453"/>
            <a:ext cx="548640" cy="1283451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34840" y="464186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96.8%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16552" y="6108192"/>
            <a:ext cx="768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AEC0"/>
                </a:solidFill>
                <a:latin typeface="Segoe UI"/>
              </a:defRPr>
            </a:pPr>
            <a:r>
              <a:t>Apr 13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16552" y="6272784"/>
            <a:ext cx="7680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07088"/>
                </a:solidFill>
                <a:latin typeface="Segoe UI"/>
              </a:defRPr>
            </a:pPr>
            <a:r>
              <a:t>52 orders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4507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476402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36208" y="47640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Scanner captures bin location at pick time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0" y="500176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36208" y="50017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System compares picked bin vs expected bin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5040" y="52395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36208" y="52395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Anomalies flagged within hours of shipping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35040" y="547725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36208" y="54772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Warehouse team reviews &amp; corrects stock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5040" y="571500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36208" y="57150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Segoe UI"/>
              </a:defRPr>
            </a:pPr>
            <a:r>
              <a:t>Corrections executed as Stock Transfers in Cin7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26880" y="4507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NEXT MILESTONES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326880" y="4764024"/>
            <a:ext cx="2560320" cy="658368"/>
          </a:xfrm>
          <a:prstGeom prst="roundRect">
            <a:avLst>
              <a:gd name="adj" fmla="val 6000"/>
            </a:avLst>
          </a:prstGeom>
          <a:solidFill>
            <a:srgbClr val="0D3B1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18320" y="48006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2C55E"/>
                </a:solidFill>
                <a:latin typeface="Segoe UI"/>
              </a:defRPr>
            </a:pPr>
            <a:r>
              <a:t>TARGET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20" y="4965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97–98%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8480" y="49926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2C55E"/>
                </a:solidFill>
                <a:latin typeface="Segoe UI"/>
              </a:defRPr>
            </a:pPr>
            <a:r>
              <a:t>Pick Accuracy</a:t>
            </a:r>
            <a:br/>
            <a:r>
              <a:t>Goal by Q3 2026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00032" y="5513832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22C55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82912" y="55138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Cin7 Webhooks — real-time stock updates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400032" y="571500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22C55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82912" y="5715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Repeat offender SKU analysis &amp; relocation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00032" y="591616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22C55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82912" y="59161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Process training with warehouse team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00032" y="6117336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22C55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82912" y="61173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Segoe UI"/>
              </a:defRPr>
            </a:pPr>
            <a:r>
              <a:t>Stock discrepancy reduced before impact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5928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505E78"/>
                </a:solidFill>
                <a:latin typeface="Segoe UI"/>
              </a:defRPr>
            </a:pPr>
            <a:r>
              <a:t>Pick Anomalies System — Rapid Labels  •  Warehouse Intelligence Platform  •  Data synced every 2h from Cin7 Core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29600" y="65928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505E78"/>
                </a:solidFill>
                <a:latin typeface="Segoe UI"/>
              </a:defRPr>
            </a:pPr>
            <a:r>
              <a:t>Confidential — RapidLED Australia  •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